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37760" y="914400"/>
            <a:ext cx="2286000" cy="2286000"/>
          </a:xfrm>
          <a:prstGeom prst="round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DataGuardian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Calibri"/>
              </a:defRPr>
            </a:pPr>
            <a:r>
              <a:t>Autonomous Data Quality &amp; Trust Platform for Snowflake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9D1D9"/>
                </a:solidFill>
                <a:latin typeface="Calibri"/>
              </a:defRPr>
            </a:pPr>
            <a:r>
              <a:t>"Find it. Explain it. Fix it. Prove it."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D1D9"/>
                </a:solidFill>
                <a:latin typeface="Calibri"/>
              </a:defRPr>
            </a:pPr>
            <a:r>
              <a:t>Built 100% on Snowflake  |  Cortex AI  |  Streamlit in Snowflake  |  Zero External Dependencies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164592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  <a:latin typeface="Calibri"/>
              </a:defRPr>
            </a:pPr>
            <a:r>
              <a:t>$12.9M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Calibri"/>
              </a:defRPr>
            </a:pPr>
            <a:r>
              <a:t>Average annual cost</a:t>
            </a:r>
            <a:br/>
            <a:r>
              <a:t>of poor data quality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560320" cy="164592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508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A94D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Calibri"/>
              </a:defRPr>
            </a:pPr>
            <a:r>
              <a:t>Of data issues found</a:t>
            </a:r>
            <a:br/>
            <a:r>
              <a:t>by end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2560320" cy="164592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08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CC419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Calibri"/>
              </a:defRPr>
            </a:pPr>
            <a:r>
              <a:t>Of business initiatives</a:t>
            </a:r>
            <a:br/>
            <a:r>
              <a:t>fail due to bad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371600"/>
            <a:ext cx="2560320" cy="164592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508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103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Calibri"/>
              </a:defRPr>
            </a:pPr>
            <a:r>
              <a:t>Of analyst time spent</a:t>
            </a:r>
            <a:br/>
            <a:r>
              <a:t>cleaning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Current Pain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Calibri"/>
              </a:defRPr>
            </a:pPr>
            <a:r>
              <a:t>  &gt;  Quality issues are invisible until they corrupt reports or mislead executives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Calibri"/>
              </a:defRPr>
            </a:pPr>
            <a:r>
              <a:t>  &gt;  Traditional tools require extensive manual rule configuration per 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Calibri"/>
              </a:defRPr>
            </a:pPr>
            <a:r>
              <a:t>  &gt;  No intelligent root cause analysis — just raw error 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Calibri"/>
              </a:defRPr>
            </a:pPr>
            <a:r>
              <a:t>  &gt;  Remediation is manual, risky, and lacks audit trails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Calibri"/>
              </a:defRPr>
            </a:pPr>
            <a:r>
              <a:t>  &gt;  No trending or continuous improvement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Solution: DataGuardian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An autonomous agentic data quality platform that thinks, explains, and acts.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2011680"/>
            <a:ext cx="548640" cy="548640"/>
          </a:xfrm>
          <a:prstGeom prst="ellipse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299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9D1D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5BFF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Calibri"/>
              </a:defRPr>
            </a:pPr>
            <a:r>
              <a:t>Auto-detect tables</a:t>
            </a:r>
            <a:br/>
            <a:r>
              <a:t>&amp; column types</a:t>
            </a:r>
          </a:p>
        </p:txBody>
      </p:sp>
      <p:sp>
        <p:nvSpPr>
          <p:cNvPr id="11" name="Oval 10"/>
          <p:cNvSpPr/>
          <p:nvPr/>
        </p:nvSpPr>
        <p:spPr>
          <a:xfrm>
            <a:off x="2971800" y="201168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0299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9D1D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Calibri"/>
              </a:defRPr>
            </a:pPr>
            <a:r>
              <a:t>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108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Calibri"/>
              </a:defRPr>
            </a:pPr>
            <a:r>
              <a:t>16 metadata-driven</a:t>
            </a:r>
            <a:br/>
            <a:r>
              <a:t>quality rules</a:t>
            </a:r>
          </a:p>
        </p:txBody>
      </p:sp>
      <p:sp>
        <p:nvSpPr>
          <p:cNvPr id="16" name="Oval 15"/>
          <p:cNvSpPr/>
          <p:nvPr/>
        </p:nvSpPr>
        <p:spPr>
          <a:xfrm>
            <a:off x="4892040" y="2011680"/>
            <a:ext cx="548640" cy="548640"/>
          </a:xfrm>
          <a:prstGeom prst="ellipse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0299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9D1D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94D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108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Calibri"/>
              </a:defRPr>
            </a:pPr>
            <a:r>
              <a:t>Severity classification</a:t>
            </a:r>
            <a:br/>
            <a:r>
              <a:t>&amp; impact analysis</a:t>
            </a:r>
          </a:p>
        </p:txBody>
      </p:sp>
      <p:sp>
        <p:nvSpPr>
          <p:cNvPr id="21" name="Oval 20"/>
          <p:cNvSpPr/>
          <p:nvPr/>
        </p:nvSpPr>
        <p:spPr>
          <a:xfrm>
            <a:off x="6812280" y="2011680"/>
            <a:ext cx="548640" cy="548640"/>
          </a:xfrm>
          <a:prstGeom prst="ellipse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0299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9D1D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1CF66"/>
                </a:solidFill>
                <a:latin typeface="Calibri"/>
              </a:defRPr>
            </a:pPr>
            <a:r>
              <a:t>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108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Calibri"/>
              </a:defRPr>
            </a:pPr>
            <a:r>
              <a:t>AI-powered root</a:t>
            </a:r>
            <a:br/>
            <a:r>
              <a:t>cause with Cortex</a:t>
            </a:r>
          </a:p>
        </p:txBody>
      </p:sp>
      <p:sp>
        <p:nvSpPr>
          <p:cNvPr id="26" name="Oval 25"/>
          <p:cNvSpPr/>
          <p:nvPr/>
        </p:nvSpPr>
        <p:spPr>
          <a:xfrm>
            <a:off x="8732520" y="2011680"/>
            <a:ext cx="548640" cy="5486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20299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9D1D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6B6B"/>
                </a:solidFill>
                <a:latin typeface="Calibri"/>
              </a:defRPr>
            </a:pPr>
            <a:r>
              <a:t>FIX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108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Calibri"/>
              </a:defRPr>
            </a:pPr>
            <a:r>
              <a:t>Safe remediation</a:t>
            </a:r>
            <a:br/>
            <a:r>
              <a:t>with approval</a:t>
            </a:r>
          </a:p>
        </p:txBody>
      </p:sp>
      <p:sp>
        <p:nvSpPr>
          <p:cNvPr id="31" name="Oval 30"/>
          <p:cNvSpPr/>
          <p:nvPr/>
        </p:nvSpPr>
        <p:spPr>
          <a:xfrm>
            <a:off x="10652760" y="2011680"/>
            <a:ext cx="548640" cy="548640"/>
          </a:xfrm>
          <a:prstGeom prst="ellipse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52760" y="2029968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7432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5BFF"/>
                </a:solidFill>
                <a:latin typeface="Calibri"/>
              </a:defRPr>
            </a:pPr>
            <a:r>
              <a:t>PROVE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1089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9D1D9"/>
                </a:solidFill>
                <a:latin typeface="Calibri"/>
              </a:defRPr>
            </a:pPr>
            <a:r>
              <a:t>Before/after scores</a:t>
            </a:r>
            <a:br/>
            <a:r>
              <a:t>&amp; audit trail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Key Differentiators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Zero Config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4663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Calibri"/>
              </a:defRPr>
            </a:pPr>
            <a:r>
              <a:t>Auto-discovers tables and applies all 16 rules without manual setup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AI Explanations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663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Calibri"/>
              </a:defRPr>
            </a:pPr>
            <a:r>
              <a:t>Every issue explained in business language via Snowflake Cortex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Safe Remediation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303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Calibri"/>
              </a:defRPr>
            </a:pPr>
            <a:r>
              <a:t>Approval-gated fixes with risk levels, rollback, and full audit trail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100% Native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5303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Calibri"/>
              </a:defRPr>
            </a:pPr>
            <a:r>
              <a:t>No external dependencies — runs entirely within your Snowflake account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109728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5BFF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1592579" cy="548640"/>
          </a:xfrm>
          <a:prstGeom prst="round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5925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5BFF"/>
                </a:solidFill>
                <a:latin typeface="Calibri"/>
              </a:defRPr>
            </a:pPr>
            <a:r>
              <a:t>Executive</a:t>
            </a:r>
            <a:br/>
            <a:r>
              <a:t>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0799" y="1691640"/>
            <a:ext cx="1592579" cy="548640"/>
          </a:xfrm>
          <a:prstGeom prst="round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0799" y="1691640"/>
            <a:ext cx="15925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5BFF"/>
                </a:solidFill>
                <a:latin typeface="Calibri"/>
              </a:defRPr>
            </a:pPr>
            <a:r>
              <a:t>Discovery</a:t>
            </a:r>
            <a:br/>
            <a:r>
              <a:t>&amp; Scan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7199" y="1691640"/>
            <a:ext cx="1592579" cy="548640"/>
          </a:xfrm>
          <a:prstGeom prst="round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7199" y="1691640"/>
            <a:ext cx="15925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5BFF"/>
                </a:solidFill>
                <a:latin typeface="Calibri"/>
              </a:defRPr>
            </a:pPr>
            <a:r>
              <a:t>AI Report</a:t>
            </a:r>
            <a:br/>
            <a:r>
              <a:t>&amp; Explain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691640"/>
            <a:ext cx="1592579" cy="548640"/>
          </a:xfrm>
          <a:prstGeom prst="round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691640"/>
            <a:ext cx="15925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5BFF"/>
                </a:solidFill>
                <a:latin typeface="Calibri"/>
              </a:defRPr>
            </a:pPr>
            <a:r>
              <a:t>Fix Center</a:t>
            </a:r>
            <a:br/>
            <a:r>
              <a:t>&amp; Approve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9999" y="1691640"/>
            <a:ext cx="1592579" cy="548640"/>
          </a:xfrm>
          <a:prstGeom prst="round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9999" y="1691640"/>
            <a:ext cx="15925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5BFF"/>
                </a:solidFill>
                <a:latin typeface="Calibri"/>
              </a:defRPr>
            </a:pPr>
            <a:r>
              <a:t>Trends &amp;</a:t>
            </a:r>
            <a:br/>
            <a:r>
              <a:t>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6400" y="1691640"/>
            <a:ext cx="1592579" cy="548640"/>
          </a:xfrm>
          <a:prstGeom prst="round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6400" y="1691640"/>
            <a:ext cx="15925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5BFF"/>
                </a:solidFill>
                <a:latin typeface="Calibri"/>
              </a:defRPr>
            </a:pPr>
            <a:r>
              <a:t>Ask</a:t>
            </a:r>
            <a:br/>
            <a:r>
              <a:t>DataGuardian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651760"/>
            <a:ext cx="10698480" cy="109728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INTELLIGENCE LAYER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063240"/>
            <a:ext cx="3185159" cy="548640"/>
          </a:xfrm>
          <a:prstGeom prst="round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063240"/>
            <a:ext cx="3185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FF"/>
                </a:solidFill>
                <a:latin typeface="Calibri"/>
              </a:defRPr>
            </a:pPr>
            <a:r>
              <a:t>Quality Engine</a:t>
            </a:r>
            <a:br/>
            <a:r>
              <a:t>(16 Rules x 6 Dimensions)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67199" y="3063240"/>
            <a:ext cx="3185159" cy="548640"/>
          </a:xfrm>
          <a:prstGeom prst="round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67199" y="3063240"/>
            <a:ext cx="3185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FF"/>
                </a:solidFill>
                <a:latin typeface="Calibri"/>
              </a:defRPr>
            </a:pPr>
            <a:r>
              <a:t>Scoring Engine</a:t>
            </a:r>
            <a:br/>
            <a:r>
              <a:t>(Weighted Health Score)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19999" y="3063240"/>
            <a:ext cx="3185159" cy="548640"/>
          </a:xfrm>
          <a:prstGeom prst="round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19999" y="3063240"/>
            <a:ext cx="3185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D4FF"/>
                </a:solidFill>
                <a:latin typeface="Calibri"/>
              </a:defRPr>
            </a:pPr>
            <a:r>
              <a:t>Remediation Engine</a:t>
            </a:r>
            <a:br/>
            <a:r>
              <a:t>(Risk-Assessed Fixes)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023360"/>
            <a:ext cx="10698480" cy="109728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069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1CF66"/>
                </a:solidFill>
                <a:latin typeface="Calibri"/>
              </a:defRPr>
            </a:pPr>
            <a:r>
              <a:t>DATA &amp; AI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434840"/>
            <a:ext cx="3185159" cy="548640"/>
          </a:xfrm>
          <a:prstGeom prst="round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434840"/>
            <a:ext cx="3185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1CF66"/>
                </a:solidFill>
                <a:latin typeface="Calibri"/>
              </a:defRPr>
            </a:pPr>
            <a:r>
              <a:t>Snowflake Cortex</a:t>
            </a:r>
            <a:br/>
            <a:r>
              <a:t>(llama3.1-70b)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67199" y="4434840"/>
            <a:ext cx="3185159" cy="548640"/>
          </a:xfrm>
          <a:prstGeom prst="round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7199" y="4434840"/>
            <a:ext cx="3185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1CF66"/>
                </a:solidFill>
                <a:latin typeface="Calibri"/>
              </a:defRPr>
            </a:pPr>
            <a:r>
              <a:t>Information Schema</a:t>
            </a:r>
            <a:br/>
            <a:r>
              <a:t>(Metadata Discovery)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19999" y="4434840"/>
            <a:ext cx="3185159" cy="548640"/>
          </a:xfrm>
          <a:prstGeom prst="round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19999" y="4434840"/>
            <a:ext cx="3185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1CF66"/>
                </a:solidFill>
                <a:latin typeface="Calibri"/>
              </a:defRPr>
            </a:pPr>
            <a:r>
              <a:t>SQL Engine</a:t>
            </a:r>
            <a:br/>
            <a:r>
              <a:t>(Dynamic Rule Eval)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394960"/>
            <a:ext cx="10698480" cy="109728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440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94D"/>
                </a:solidFill>
                <a:latin typeface="Calibri"/>
              </a:defRPr>
            </a:pPr>
            <a:r>
              <a:t>STORAGE LAYER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5806440"/>
            <a:ext cx="3185159" cy="548640"/>
          </a:xfrm>
          <a:prstGeom prst="round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806440"/>
            <a:ext cx="3185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A94D"/>
                </a:solidFill>
                <a:latin typeface="Calibri"/>
              </a:defRPr>
            </a:pPr>
            <a:r>
              <a:t>DEMO_DATA</a:t>
            </a:r>
            <a:br/>
            <a:r>
              <a:t>(3 tables, 25K+ rows)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67199" y="5806440"/>
            <a:ext cx="3185159" cy="548640"/>
          </a:xfrm>
          <a:prstGeom prst="round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67199" y="5806440"/>
            <a:ext cx="3185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A94D"/>
                </a:solidFill>
                <a:latin typeface="Calibri"/>
              </a:defRPr>
            </a:pPr>
            <a:r>
              <a:t>QUALITY_ENGINE</a:t>
            </a:r>
            <a:br/>
            <a:r>
              <a:t>(7 tables)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19999" y="5806440"/>
            <a:ext cx="3185159" cy="548640"/>
          </a:xfrm>
          <a:prstGeom prst="round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19999" y="5806440"/>
            <a:ext cx="3185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A94D"/>
                </a:solidFill>
                <a:latin typeface="Calibri"/>
              </a:defRPr>
            </a:pPr>
            <a:r>
              <a:t>HEALTH_SCORE_HISTORY</a:t>
            </a:r>
            <a:br/>
            <a:r>
              <a:t>(Trending)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6 Quality Dimensions &amp; 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219456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3200400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5BFF"/>
                </a:solidFill>
                <a:latin typeface="Calibri"/>
              </a:defRPr>
            </a:pPr>
            <a:r>
              <a:t>Completeness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554480"/>
            <a:ext cx="731520" cy="320040"/>
          </a:xfrm>
          <a:prstGeom prst="round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554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NULLs, missing fields,</a:t>
            </a:r>
            <a:br/>
            <a:r>
              <a:t>blank strings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35BFF"/>
                </a:solidFill>
                <a:latin typeface="Calibri"/>
              </a:defRPr>
            </a:pPr>
            <a:r>
              <a:t>-&gt; 12 detections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280160"/>
            <a:ext cx="3383280" cy="219456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1999" y="1371600"/>
            <a:ext cx="32004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Calibri"/>
              </a:defRPr>
            </a:pPr>
            <a:r>
              <a:t>Uniqueness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39" y="1554480"/>
            <a:ext cx="731520" cy="3200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39" y="1554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2057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Duplicate records,</a:t>
            </a:r>
            <a:br/>
            <a:r>
              <a:t>key violations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Calibri"/>
              </a:defRPr>
            </a:pPr>
            <a:r>
              <a:t>-&gt; 3 detections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280160"/>
            <a:ext cx="3383280" cy="219456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371600"/>
            <a:ext cx="3200400" cy="54864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94D"/>
                </a:solidFill>
                <a:latin typeface="Calibri"/>
              </a:defRPr>
            </a:pPr>
            <a:r>
              <a:t>Validity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98480" y="1554480"/>
            <a:ext cx="731520" cy="320040"/>
          </a:xfrm>
          <a:prstGeom prst="round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0" y="1554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0574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Format errors, range</a:t>
            </a:r>
            <a:br/>
            <a:r>
              <a:t>violations, outliers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9260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94D"/>
                </a:solidFill>
                <a:latin typeface="Calibri"/>
              </a:defRPr>
            </a:pPr>
            <a:r>
              <a:t>-&gt; 6 detections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840479"/>
            <a:ext cx="3383280" cy="219456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3931919"/>
            <a:ext cx="3200400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1147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1CF66"/>
                </a:solidFill>
                <a:latin typeface="Calibri"/>
              </a:defRPr>
            </a:pPr>
            <a:r>
              <a:t>Consistency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4114799"/>
            <a:ext cx="731520" cy="320040"/>
          </a:xfrm>
          <a:prstGeom prst="round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411479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61771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Whitespace, casing,</a:t>
            </a:r>
            <a:br/>
            <a:r>
              <a:t>format mismatches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48639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1CF66"/>
                </a:solidFill>
                <a:latin typeface="Calibri"/>
              </a:defRPr>
            </a:pPr>
            <a:r>
              <a:t>-&gt; 1 detection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59" y="3840479"/>
            <a:ext cx="3383280" cy="219456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1999" y="3931919"/>
            <a:ext cx="32004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39" y="41147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  <a:latin typeface="Calibri"/>
              </a:defRPr>
            </a:pPr>
            <a:r>
              <a:t>Integrity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39" y="4114799"/>
            <a:ext cx="731520" cy="3200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39" y="411479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39" y="461771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Orphan foreign keys,</a:t>
            </a:r>
            <a:br/>
            <a:r>
              <a:t>broken references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39" y="548639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  <a:latin typeface="Calibri"/>
              </a:defRPr>
            </a:pPr>
            <a:r>
              <a:t>-&gt; 1 detection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3840479"/>
            <a:ext cx="3383280" cy="219456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21040" y="3931919"/>
            <a:ext cx="3200400" cy="54864"/>
          </a:xfrm>
          <a:prstGeom prst="rect">
            <a:avLst/>
          </a:prstGeom>
          <a:solidFill>
            <a:srgbClr val="FCC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41147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CC419"/>
                </a:solidFill>
                <a:latin typeface="Calibri"/>
              </a:defRPr>
            </a:pPr>
            <a:r>
              <a:t>Freshness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698480" y="4114799"/>
            <a:ext cx="731520" cy="320040"/>
          </a:xfrm>
          <a:prstGeom prst="roundRect">
            <a:avLst/>
          </a:prstGeom>
          <a:solidFill>
            <a:srgbClr val="FCC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98480" y="411479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61771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Stale data, update</a:t>
            </a:r>
            <a:br/>
            <a:r>
              <a:t>recency checks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48639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CC419"/>
                </a:solidFill>
                <a:latin typeface="Calibri"/>
              </a:defRPr>
            </a:pPr>
            <a:r>
              <a:t>-&gt; Monitored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28800" y="6126480"/>
            <a:ext cx="8503920" cy="50292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0" y="6144768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Calibri"/>
              </a:defRPr>
            </a:pPr>
            <a:r>
              <a:t>Health Score = Sum(Dimension Score x Weight) + Severity Penalties  -&gt;  0 to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Quality Issues Detected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560320" cy="100584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Calibri"/>
              </a:defRPr>
            </a:pPr>
            <a:r>
              <a:t>Distinct Issues</a:t>
            </a:r>
            <a:br/>
            <a:r>
              <a:t>Detected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188720"/>
            <a:ext cx="2560320" cy="100584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325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  <a:latin typeface="Calibri"/>
              </a:defRPr>
            </a:pPr>
            <a:r>
              <a:t>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Calibri"/>
              </a:defRPr>
            </a:pPr>
            <a:r>
              <a:t>Total Rows</a:t>
            </a:r>
            <a:br/>
            <a:r>
              <a:t>Affected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188720"/>
            <a:ext cx="2560320" cy="100584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325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Calibri"/>
              </a:defRPr>
            </a:pPr>
            <a:r>
              <a:t>Critical</a:t>
            </a:r>
            <a:br/>
            <a:r>
              <a:t>Severity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188720"/>
            <a:ext cx="2560320" cy="100584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1325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9D1D9"/>
                </a:solidFill>
                <a:latin typeface="Calibri"/>
              </a:defRPr>
            </a:pPr>
            <a:r>
              <a:t>Rules</a:t>
            </a:r>
            <a:br/>
            <a:r>
              <a:t>Triggered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560320"/>
            <a:ext cx="10698480" cy="41148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578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5786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5786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5786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5786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786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5786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017520"/>
            <a:ext cx="10698480" cy="411480"/>
          </a:xfrm>
          <a:prstGeom prst="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035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CUSTOMERS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0358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5,017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30358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12 issues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0358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B6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0358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A94D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0358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CC41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0358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1CF6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474720"/>
            <a:ext cx="10698480" cy="411480"/>
          </a:xfrm>
          <a:prstGeom prst="rect">
            <a:avLst/>
          </a:prstGeom>
          <a:solidFill>
            <a:srgbClr val="10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PRODUCTS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493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510 rows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34930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 issues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3493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B6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493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A94D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493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CC41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34930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1CF6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3931920"/>
            <a:ext cx="10698480" cy="411480"/>
          </a:xfrm>
          <a:prstGeom prst="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39502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ORDERS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3950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20,022 rows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9502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 issues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3950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B6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3950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A94D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3950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CC41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3950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1CF6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Top Violated Rules (by detection frequency)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1389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8720" y="5138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Rule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51389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77840" y="51389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Spread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59" y="51389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0" y="51389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Rows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5532120"/>
            <a:ext cx="10698480" cy="347472"/>
          </a:xfrm>
          <a:prstGeom prst="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5532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872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Calibri"/>
              </a:defRPr>
            </a:pPr>
            <a:r>
              <a:t>NULL_CHECK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1920" y="5532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Completeness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0" y="5532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1CF66"/>
                </a:solidFill>
                <a:latin typeface="Calibri"/>
              </a:defRPr>
            </a:pPr>
            <a:r>
              <a:t>3/3 tables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59" y="5532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5897880"/>
            <a:ext cx="10698480" cy="347472"/>
          </a:xfrm>
          <a:prstGeom prst="rect">
            <a:avLst/>
          </a:prstGeom>
          <a:solidFill>
            <a:srgbClr val="10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5897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88720" y="5897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Calibri"/>
              </a:defRPr>
            </a:pPr>
            <a:r>
              <a:t>NUMERIC_RANGE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31920" y="5897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Validity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77840" y="5897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1CF66"/>
                </a:solidFill>
                <a:latin typeface="Calibri"/>
              </a:defRPr>
            </a:pPr>
            <a:r>
              <a:t>3/3 tables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59" y="5897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69680" y="5897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6263640"/>
            <a:ext cx="10698480" cy="347472"/>
          </a:xfrm>
          <a:prstGeom prst="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" y="6263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88720" y="6263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Calibri"/>
              </a:defRPr>
            </a:pPr>
            <a:r>
              <a:t>DUPLICATE_CHECK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31920" y="6263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Uniqueness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77840" y="6263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1CF66"/>
                </a:solidFill>
                <a:latin typeface="Calibri"/>
              </a:defRPr>
            </a:pPr>
            <a:r>
              <a:t>3/3 tables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23759" y="6263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69680" y="6263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31520" y="6629400"/>
            <a:ext cx="10698480" cy="347472"/>
          </a:xfrm>
          <a:prstGeom prst="rect">
            <a:avLst/>
          </a:prstGeom>
          <a:solidFill>
            <a:srgbClr val="10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2960" y="6629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88720" y="6629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Calibri"/>
              </a:defRPr>
            </a:pPr>
            <a:r>
              <a:t>DATE_RANGE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31920" y="6629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Validity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77840" y="6629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1CF66"/>
                </a:solidFill>
                <a:latin typeface="Calibri"/>
              </a:defRPr>
            </a:pPr>
            <a:r>
              <a:t>3/3 tables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23759" y="6629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69680" y="6629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31520" y="6995160"/>
            <a:ext cx="10698480" cy="347472"/>
          </a:xfrm>
          <a:prstGeom prst="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2960" y="6995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88720" y="6995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Calibri"/>
              </a:defRPr>
            </a:pPr>
            <a:r>
              <a:t>AMOUNT_CONSISTENCY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31920" y="6995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Validity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77840" y="6995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1CF66"/>
                </a:solidFill>
                <a:latin typeface="Calibri"/>
              </a:defRPr>
            </a:pPr>
            <a:r>
              <a:t>1/3 tables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23759" y="6995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69680" y="6995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  <a:latin typeface="Calibri"/>
              </a:defRPr>
            </a:pPr>
            <a:r>
              <a:t>118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Snowflake-Native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100% built on Snowflake — zero external dependencies, zero data movement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192024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3200400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5BFF"/>
                </a:solidFill>
                <a:latin typeface="Calibri"/>
              </a:defRPr>
            </a:pPr>
            <a:r>
              <a:t>Streamlit in</a:t>
            </a:r>
            <a:br/>
            <a:r>
              <a:t>Snowflake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Full interactive dashboard</a:t>
            </a:r>
            <a:br/>
            <a:r>
              <a:t>and AI chat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828800"/>
            <a:ext cx="3383280" cy="192024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1999" y="1920240"/>
            <a:ext cx="32004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1488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Snowflake Cortex</a:t>
            </a:r>
            <a:br/>
            <a:r>
              <a:t>(LLM)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8803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AI-powered explanations</a:t>
            </a:r>
            <a:br/>
            <a:r>
              <a:t>using llama3.1-70b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383280" cy="192024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920240"/>
            <a:ext cx="3200400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1488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1CF66"/>
                </a:solidFill>
                <a:latin typeface="Calibri"/>
              </a:defRPr>
            </a:pPr>
            <a:r>
              <a:t>Information</a:t>
            </a:r>
            <a:br/>
            <a:r>
              <a:t>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8803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Metadata-driven column</a:t>
            </a:r>
            <a:br/>
            <a:r>
              <a:t>discovery &amp; type inference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3383280" cy="192024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206240"/>
            <a:ext cx="3200400" cy="54864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94D"/>
                </a:solidFill>
                <a:latin typeface="Calibri"/>
              </a:defRPr>
            </a:pPr>
            <a:r>
              <a:t>SQL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663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Dynamic quality rule</a:t>
            </a:r>
            <a:br/>
            <a:r>
              <a:t>evaluation at 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114800"/>
            <a:ext cx="3383280" cy="192024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1999" y="4206240"/>
            <a:ext cx="32004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44348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alibri"/>
              </a:defRPr>
            </a:pPr>
            <a:r>
              <a:t>Tables &amp;</a:t>
            </a:r>
            <a:br/>
            <a:r>
              <a:t>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51663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Scan results, audit trail,</a:t>
            </a:r>
            <a:br/>
            <a:r>
              <a:t>health score trending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114800"/>
            <a:ext cx="3383280" cy="192024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4206240"/>
            <a:ext cx="3200400" cy="54864"/>
          </a:xfrm>
          <a:prstGeom prst="rect">
            <a:avLst/>
          </a:prstGeom>
          <a:solidFill>
            <a:srgbClr val="FCC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4348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CC419"/>
                </a:solidFill>
                <a:latin typeface="Calibri"/>
              </a:defRPr>
            </a:pPr>
            <a:r>
              <a:t>RBAC &amp;</a:t>
            </a:r>
            <a:br/>
            <a:r>
              <a:t>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Role-based access control</a:t>
            </a:r>
            <a:br/>
            <a:r>
              <a:t>for all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Security &amp; 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286000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D4FF"/>
                </a:solidFill>
                <a:latin typeface="Calibri"/>
              </a:defRPr>
            </a:pPr>
            <a:r>
              <a:t>Enterprise-grade safety built into every operation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100584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1CF66"/>
                </a:solidFill>
                <a:latin typeface="Calibri"/>
              </a:defRPr>
            </a:pPr>
            <a:r>
              <a:t>No Blind Modifications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Every fix requires explicit user approval before execution. The agent recommends — humans decide.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698480" cy="100584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1CF66"/>
                </a:solidFill>
                <a:latin typeface="Calibri"/>
              </a:defRPr>
            </a:pPr>
            <a:r>
              <a:t>Full Audit Trail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2044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Every scan, detection, and remediation is logged with timestamps, affected rows, SQL executed, and before/after scores.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0698480" cy="100584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1CF66"/>
                </a:solidFill>
                <a:latin typeface="Calibri"/>
              </a:defRPr>
            </a:pPr>
            <a:r>
              <a:t>Risk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0916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Each remediation is rated LOW / MEDIUM / HIGH risk with documented rollback strategy and impact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532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1CF66"/>
                </a:solidFill>
                <a:latin typeface="Calibri"/>
              </a:defRPr>
            </a:pPr>
            <a:r>
              <a:t>Safe SQL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89788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Calibri"/>
              </a:defRPr>
            </a:pPr>
            <a:r>
              <a:t>Uses TRIM, MERGE, and controlled UPDATE statements. No DELETE, DROP, or TRUNCATE in remediation.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Business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828800" cy="36576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51760" cy="182880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468880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5BFF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  <a:latin typeface="Calibri"/>
              </a:defRPr>
            </a:pPr>
            <a:r>
              <a:t>Reduction in manual</a:t>
            </a:r>
            <a:br/>
            <a:r>
              <a:t>data cleaning effort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80160"/>
            <a:ext cx="2651760" cy="182880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371600"/>
            <a:ext cx="246888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  <a:latin typeface="Calibri"/>
              </a:defRPr>
            </a:pPr>
            <a:r>
              <a:t>Continuous quality</a:t>
            </a:r>
            <a:br/>
            <a:r>
              <a:t>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80160"/>
            <a:ext cx="2651760" cy="182880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2468880" cy="54864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1CF66"/>
                </a:solidFill>
                <a:latin typeface="Calibri"/>
              </a:defRPr>
            </a:pPr>
            <a:r>
              <a:t>AI-Powered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945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  <a:latin typeface="Calibri"/>
              </a:defRPr>
            </a:pPr>
            <a:r>
              <a:t>Root cause analysis</a:t>
            </a:r>
            <a:br/>
            <a:r>
              <a:t>&amp; explanations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280160"/>
            <a:ext cx="2651760" cy="1828800"/>
          </a:xfrm>
          <a:prstGeom prst="round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26880" y="1371600"/>
            <a:ext cx="2468880" cy="54864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5544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A94D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19456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  <a:latin typeface="Calibri"/>
              </a:defRPr>
            </a:pPr>
            <a:r>
              <a:t>Snowflake-native</a:t>
            </a:r>
            <a:br/>
            <a:r>
              <a:t>zero dependencies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Before vs After DataGuardian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BEFORE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solidFill>
            <a:srgbClr val="51C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AFTER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B6B"/>
                </a:solidFill>
                <a:latin typeface="Calibri"/>
              </a:defRPr>
            </a:pPr>
            <a:r>
              <a:t>x  Manual rule configuration per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389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1CF66"/>
                </a:solidFill>
                <a:latin typeface="Calibri"/>
              </a:defRPr>
            </a:pPr>
            <a:r>
              <a:t>v  Auto-discovery and 16 built-in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54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B6B"/>
                </a:solidFill>
                <a:latin typeface="Calibri"/>
              </a:defRPr>
            </a:pPr>
            <a:r>
              <a:t>x  Issues found by end users in 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54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1CF66"/>
                </a:solidFill>
                <a:latin typeface="Calibri"/>
              </a:defRPr>
            </a:pPr>
            <a:r>
              <a:t>v  Proactive detection before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120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B6B"/>
                </a:solidFill>
                <a:latin typeface="Calibri"/>
              </a:defRPr>
            </a:pPr>
            <a:r>
              <a:t>x  No root cause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206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1CF66"/>
                </a:solidFill>
                <a:latin typeface="Calibri"/>
              </a:defRPr>
            </a:pPr>
            <a:r>
              <a:t>v  AI-explained business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486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B6B"/>
                </a:solidFill>
                <a:latin typeface="Calibri"/>
              </a:defRPr>
            </a:pPr>
            <a:r>
              <a:t>x  Risky ad-hoc UPDATE statements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486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1CF66"/>
                </a:solidFill>
                <a:latin typeface="Calibri"/>
              </a:defRPr>
            </a:pPr>
            <a:r>
              <a:t>v  Approval-gated safe remediation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52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B6B"/>
                </a:solidFill>
                <a:latin typeface="Calibri"/>
              </a:defRPr>
            </a:pPr>
            <a:r>
              <a:t>x  No historical quality tracking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852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1CF66"/>
                </a:solidFill>
                <a:latin typeface="Calibri"/>
              </a:defRPr>
            </a:pPr>
            <a:r>
              <a:t>v  6-dimension trending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217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6B6B"/>
                </a:solidFill>
                <a:latin typeface="Calibri"/>
              </a:defRPr>
            </a:pPr>
            <a:r>
              <a:t>x  External tools and data movement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6217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1CF66"/>
                </a:solidFill>
                <a:latin typeface="Calibri"/>
              </a:defRPr>
            </a:pPr>
            <a:r>
              <a:t>v  100% Snowflake-native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37760" y="731520"/>
            <a:ext cx="2286000" cy="2286000"/>
          </a:xfrm>
          <a:prstGeom prst="roundRect">
            <a:avLst/>
          </a:prstGeom>
          <a:solidFill>
            <a:srgbClr val="63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  <a:latin typeface="Calibri"/>
              </a:defRPr>
            </a:pPr>
            <a:r>
              <a:t>Watch DataGuardian AI autonomously scan, detect, explain, and fix quality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5720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  <a:latin typeface="Calibri"/>
              </a:defRPr>
            </a:pPr>
            <a:r>
              <a:t>1. Open the app  -&gt;  Executive Overview loads with health scores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89204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  <a:latin typeface="Calibri"/>
              </a:defRPr>
            </a:pPr>
            <a:r>
              <a:t>2. Navigate to Competition Demo  -&gt;  Click RUN 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2120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  <a:latin typeface="Calibri"/>
              </a:defRPr>
            </a:pPr>
            <a:r>
              <a:t>3. Watch autonomous scan across CUSTOMERS, PRODUCTS,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5321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  <a:latin typeface="Calibri"/>
              </a:defRPr>
            </a:pPr>
            <a:r>
              <a:t>4. See AI-generated explanations for every detected issue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8521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9D1D9"/>
                </a:solidFill>
                <a:latin typeface="Calibri"/>
              </a:defRPr>
            </a:pPr>
            <a:r>
              <a:t>5. Approve safe remediation  -&gt;  Verify improved health scores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4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263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35BFF"/>
                </a:solidFill>
                <a:latin typeface="Calibri"/>
              </a:defRPr>
            </a:pPr>
            <a:r>
              <a:t>"Find it. Explain it. Fix it. Prove it."  --  DataGuardian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